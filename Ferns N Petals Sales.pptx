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4" r:id="rId1"/>
  </p:sldMasterIdLst>
  <p:sldIdLst>
    <p:sldId id="256" r:id="rId2"/>
    <p:sldId id="258" r:id="rId3"/>
    <p:sldId id="259" r:id="rId4"/>
    <p:sldId id="260" r:id="rId5"/>
    <p:sldId id="261" r:id="rId6"/>
    <p:sldId id="266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799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97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399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1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708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27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209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07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68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105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607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545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641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49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6787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531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26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C80CBA6-CB69-4A7E-BC71-E755BA24F141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09AEEF2-BEFA-4DB2-92A7-022725C2C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58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45EB-04BE-C029-3F3E-9E7B40BED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Ferns N Petals Sales </a:t>
            </a:r>
            <a:br>
              <a:rPr lang="en-IN" b="1" dirty="0"/>
            </a:br>
            <a:r>
              <a:rPr lang="en-IN" b="1" dirty="0"/>
              <a:t>Analysis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2457F-2897-18D1-5F36-6844F8F35A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The aim of this analysis is to study the overall sales performance, </a:t>
            </a:r>
          </a:p>
          <a:p>
            <a:r>
              <a:rPr lang="en-US" b="1" dirty="0"/>
              <a:t>revenue distribution, and customer trends based on various </a:t>
            </a:r>
          </a:p>
          <a:p>
            <a:r>
              <a:rPr lang="en-US" b="1" dirty="0"/>
              <a:t>dimensions like category, occasion, and location.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5254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02D06F-773C-019A-B510-2BA1580259DE}"/>
              </a:ext>
            </a:extLst>
          </p:cNvPr>
          <p:cNvSpPr txBox="1"/>
          <p:nvPr/>
        </p:nvSpPr>
        <p:spPr>
          <a:xfrm>
            <a:off x="1668544" y="989814"/>
            <a:ext cx="9125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Problem Statements: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CECBC-9D9E-7A81-60F9-1C976E749AD9}"/>
              </a:ext>
            </a:extLst>
          </p:cNvPr>
          <p:cNvSpPr txBox="1"/>
          <p:nvPr/>
        </p:nvSpPr>
        <p:spPr>
          <a:xfrm>
            <a:off x="1753386" y="3344835"/>
            <a:ext cx="8795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Objectives: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345694-591D-8D0F-24F8-CEA8DDE24E0E}"/>
              </a:ext>
            </a:extLst>
          </p:cNvPr>
          <p:cNvSpPr txBox="1"/>
          <p:nvPr/>
        </p:nvSpPr>
        <p:spPr>
          <a:xfrm>
            <a:off x="1753386" y="1677971"/>
            <a:ext cx="93136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management seeks to understand the key factors influencing total sales and revenue performance.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They want to identify which product categories, occasions, and locations contribute most to revenue and analyze delivery lag patterns and customer demographics.</a:t>
            </a:r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C9E152-0BC0-C747-6645-BA2658B93A41}"/>
              </a:ext>
            </a:extLst>
          </p:cNvPr>
          <p:cNvSpPr txBox="1"/>
          <p:nvPr/>
        </p:nvSpPr>
        <p:spPr>
          <a:xfrm>
            <a:off x="1941922" y="3987538"/>
            <a:ext cx="91251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	Assess Financial Health: Monitor total orders, revenue, and average earnings.</a:t>
            </a:r>
          </a:p>
          <a:p>
            <a:r>
              <a:rPr lang="en-US" dirty="0"/>
              <a:t>•	Highlight Top Products: Identify highest-earning product categories.</a:t>
            </a:r>
          </a:p>
          <a:p>
            <a:r>
              <a:rPr lang="en-US" dirty="0"/>
              <a:t>•	Track Seasonal Patterns: Analyze monthly revenue fluctuations.</a:t>
            </a:r>
          </a:p>
          <a:p>
            <a:r>
              <a:rPr lang="en-US" dirty="0"/>
              <a:t>•	Spot Key Sales Drivers: Find holidays or events with peak sales.</a:t>
            </a:r>
          </a:p>
          <a:p>
            <a:r>
              <a:rPr lang="en-US" dirty="0"/>
              <a:t>•	Find High-Value Markets: Identify top-performing </a:t>
            </a:r>
          </a:p>
          <a:p>
            <a:r>
              <a:rPr lang="en-US" dirty="0"/>
              <a:t>	cities.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576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5AC1E1-2243-E255-8C9E-45F2794F6A08}"/>
              </a:ext>
            </a:extLst>
          </p:cNvPr>
          <p:cNvSpPr txBox="1"/>
          <p:nvPr/>
        </p:nvSpPr>
        <p:spPr>
          <a:xfrm>
            <a:off x="1234911" y="1027522"/>
            <a:ext cx="6174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Dataset 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26BCFE-3E65-950D-A857-735466B9C55A}"/>
              </a:ext>
            </a:extLst>
          </p:cNvPr>
          <p:cNvSpPr txBox="1"/>
          <p:nvPr/>
        </p:nvSpPr>
        <p:spPr>
          <a:xfrm>
            <a:off x="1409306" y="1762565"/>
            <a:ext cx="49584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Total Orders: 1000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Total Revenue: ₹35,20,984</a:t>
            </a:r>
          </a:p>
          <a:p>
            <a:r>
              <a:rPr lang="en-IN" dirty="0"/>
              <a:t>							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Average Customer’s Spent: ₹3,521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Average Order to Delivery Time: 5.53 days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dataset includes fields such as Order Date, Product Category, Occasion, City, Gender, Quantity, and Revenue.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415FD-4B5A-81FF-D191-901AD306A7B3}"/>
              </a:ext>
            </a:extLst>
          </p:cNvPr>
          <p:cNvSpPr txBox="1"/>
          <p:nvPr/>
        </p:nvSpPr>
        <p:spPr>
          <a:xfrm>
            <a:off x="6542202" y="1027522"/>
            <a:ext cx="4147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Dashboard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7DB3F-20EF-823F-B671-283ADB7F0025}"/>
              </a:ext>
            </a:extLst>
          </p:cNvPr>
          <p:cNvSpPr txBox="1"/>
          <p:nvPr/>
        </p:nvSpPr>
        <p:spPr>
          <a:xfrm>
            <a:off x="6542201" y="1762565"/>
            <a:ext cx="47888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dashboard provides visual insights into FNP sales performance across categories, months, and customer segments. Key visual components include: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4FF13-F9F2-E7E2-1274-A5B143F9A171}"/>
              </a:ext>
            </a:extLst>
          </p:cNvPr>
          <p:cNvSpPr txBox="1"/>
          <p:nvPr/>
        </p:nvSpPr>
        <p:spPr>
          <a:xfrm>
            <a:off x="6890992" y="2815687"/>
            <a:ext cx="36293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Revenue by Category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Top Locations by Revenue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Monthly Revenue Trends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Revenue per Occasion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Interactive Filters for Month and Occasion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140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B62483-B39D-80FB-7B6E-13494FE872C0}"/>
              </a:ext>
            </a:extLst>
          </p:cNvPr>
          <p:cNvSpPr txBox="1"/>
          <p:nvPr/>
        </p:nvSpPr>
        <p:spPr>
          <a:xfrm>
            <a:off x="2997724" y="914400"/>
            <a:ext cx="5929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 dirty="0"/>
              <a:t>DATA CLEANING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50294-E673-D91B-8537-0DA6D5768048}"/>
              </a:ext>
            </a:extLst>
          </p:cNvPr>
          <p:cNvSpPr txBox="1"/>
          <p:nvPr/>
        </p:nvSpPr>
        <p:spPr>
          <a:xfrm>
            <a:off x="1055802" y="1743959"/>
            <a:ext cx="4025245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Made proper date and time format for improper format.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Deleted repeated orders.</a:t>
            </a:r>
          </a:p>
          <a:p>
            <a:pPr>
              <a:lnSpc>
                <a:spcPct val="250000"/>
              </a:lnSpc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Combined orders data in the existing dataset.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Made necessary formatting in the range for better analysis.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8EC7F4-E73A-3AFB-938A-C038892BC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780" y="1866475"/>
            <a:ext cx="6419654" cy="18853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D58747F-575A-74C9-677F-B540372A32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780" y="4058206"/>
            <a:ext cx="6419654" cy="188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509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83623D-CC4A-BD49-BEC2-21221A756BB9}"/>
              </a:ext>
            </a:extLst>
          </p:cNvPr>
          <p:cNvSpPr txBox="1"/>
          <p:nvPr/>
        </p:nvSpPr>
        <p:spPr>
          <a:xfrm>
            <a:off x="4224777" y="961533"/>
            <a:ext cx="3742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>
                <a:latin typeface="+mj-lt"/>
              </a:rPr>
              <a:t>KEY METRICS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19977D-D2B0-A91D-0F47-15DA001BC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729726"/>
              </p:ext>
            </p:extLst>
          </p:nvPr>
        </p:nvGraphicFramePr>
        <p:xfrm>
          <a:off x="2031999" y="1960775"/>
          <a:ext cx="8127999" cy="3272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1748957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7896355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94570033"/>
                    </a:ext>
                  </a:extLst>
                </a:gridCol>
              </a:tblGrid>
              <a:tr h="490194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Easy Insights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184355"/>
                  </a:ext>
                </a:extLst>
              </a:tr>
              <a:tr h="69569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company handles exactly 1000 sales.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56076"/>
                  </a:ext>
                </a:extLst>
              </a:tr>
              <a:tr h="69569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 Revenue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₹35,20,984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business is bringing in over ₹35 lakhs.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429464"/>
                  </a:ext>
                </a:extLst>
              </a:tr>
              <a:tr h="69569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Avg. Customer’s Spent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₹3,521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average value of each order is about ₹3500.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270825"/>
                  </a:ext>
                </a:extLst>
              </a:tr>
              <a:tr h="69569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Avg. Order-Delivery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5.53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Orders take almost a week to be delivered, on average.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226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834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E328C1-9D4C-1537-CD1B-1E0FEB151D23}"/>
              </a:ext>
            </a:extLst>
          </p:cNvPr>
          <p:cNvSpPr txBox="1"/>
          <p:nvPr/>
        </p:nvSpPr>
        <p:spPr>
          <a:xfrm>
            <a:off x="3065282" y="791852"/>
            <a:ext cx="606143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/>
              <a:t>OCCASION BY REVENUE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00F280-33F1-0917-EC88-EB91FC3CD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896233"/>
              </p:ext>
            </p:extLst>
          </p:nvPr>
        </p:nvGraphicFramePr>
        <p:xfrm>
          <a:off x="1042185" y="1653626"/>
          <a:ext cx="5594286" cy="4468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7143">
                  <a:extLst>
                    <a:ext uri="{9D8B030D-6E8A-4147-A177-3AD203B41FA5}">
                      <a16:colId xmlns:a16="http://schemas.microsoft.com/office/drawing/2014/main" val="2867990562"/>
                    </a:ext>
                  </a:extLst>
                </a:gridCol>
                <a:gridCol w="2797143">
                  <a:extLst>
                    <a:ext uri="{9D8B030D-6E8A-4147-A177-3AD203B41FA5}">
                      <a16:colId xmlns:a16="http://schemas.microsoft.com/office/drawing/2014/main" val="3169214587"/>
                    </a:ext>
                  </a:extLst>
                </a:gridCol>
              </a:tblGrid>
              <a:tr h="4450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 Insights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680704"/>
                  </a:ext>
                </a:extLst>
              </a:tr>
              <a:tr h="1576851">
                <a:tc>
                  <a:txBody>
                    <a:bodyPr/>
                    <a:lstStyle/>
                    <a:p>
                      <a:r>
                        <a:rPr lang="en-US" b="1" dirty="0"/>
                        <a:t>Anniversary</a:t>
                      </a:r>
                      <a:r>
                        <a:rPr lang="en-US" dirty="0"/>
                        <a:t> and </a:t>
                      </a:r>
                      <a:r>
                        <a:rPr lang="en-US" b="1" dirty="0"/>
                        <a:t>Raksha</a:t>
                      </a:r>
                      <a:r>
                        <a:rPr lang="en-US" dirty="0"/>
                        <a:t> </a:t>
                      </a:r>
                    </a:p>
                    <a:p>
                      <a:r>
                        <a:rPr lang="en-US" b="1" dirty="0"/>
                        <a:t>Bandhan</a:t>
                      </a:r>
                      <a:r>
                        <a:rPr lang="en-US" dirty="0"/>
                        <a:t> generate the highest </a:t>
                      </a:r>
                    </a:p>
                    <a:p>
                      <a:r>
                        <a:rPr lang="en-US" dirty="0"/>
                        <a:t>revenue (≥₹6.3 lakhs each).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Relationship Focus: </a:t>
                      </a:r>
                      <a:r>
                        <a:rPr lang="en-US" dirty="0"/>
                        <a:t>These </a:t>
                      </a:r>
                    </a:p>
                    <a:p>
                      <a:r>
                        <a:rPr lang="en-US" dirty="0"/>
                        <a:t>deep, personal relationship </a:t>
                      </a:r>
                    </a:p>
                    <a:p>
                      <a:r>
                        <a:rPr lang="en-US" dirty="0"/>
                        <a:t>occasions are the most </a:t>
                      </a:r>
                    </a:p>
                    <a:p>
                      <a:r>
                        <a:rPr lang="en-US" dirty="0"/>
                        <a:t>financially rewarding. Target </a:t>
                      </a:r>
                    </a:p>
                    <a:p>
                      <a:r>
                        <a:rPr lang="en-US" dirty="0"/>
                        <a:t>them heavily for predictable </a:t>
                      </a:r>
                    </a:p>
                    <a:p>
                      <a:r>
                        <a:rPr lang="en-US" dirty="0"/>
                        <a:t>returns.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548847"/>
                  </a:ext>
                </a:extLst>
              </a:tr>
              <a:tr h="2074804">
                <a:tc>
                  <a:txBody>
                    <a:bodyPr/>
                    <a:lstStyle/>
                    <a:p>
                      <a:r>
                        <a:rPr lang="en-US" b="1" dirty="0"/>
                        <a:t>Valentine's</a:t>
                      </a:r>
                      <a:r>
                        <a:rPr lang="en-US" dirty="0"/>
                        <a:t> </a:t>
                      </a:r>
                      <a:r>
                        <a:rPr lang="en-US" b="1" dirty="0"/>
                        <a:t>Day</a:t>
                      </a:r>
                      <a:r>
                        <a:rPr lang="en-US" dirty="0"/>
                        <a:t> revenue is </a:t>
                      </a:r>
                    </a:p>
                    <a:p>
                      <a:r>
                        <a:rPr lang="en-US" dirty="0"/>
                        <a:t>only moderate (₹3.3 lakhs), </a:t>
                      </a:r>
                    </a:p>
                    <a:p>
                      <a:r>
                        <a:rPr lang="en-US" dirty="0"/>
                        <a:t>despite February's high </a:t>
                      </a:r>
                    </a:p>
                    <a:p>
                      <a:r>
                        <a:rPr lang="en-US" dirty="0"/>
                        <a:t>overall monthly sales.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High</a:t>
                      </a:r>
                      <a:r>
                        <a:rPr lang="en-US" dirty="0"/>
                        <a:t> </a:t>
                      </a:r>
                      <a:r>
                        <a:rPr lang="en-US" b="1" dirty="0"/>
                        <a:t>Value</a:t>
                      </a:r>
                      <a:r>
                        <a:rPr lang="en-US" dirty="0"/>
                        <a:t> </a:t>
                      </a:r>
                      <a:r>
                        <a:rPr lang="en-US" b="1" dirty="0"/>
                        <a:t>Orders:</a:t>
                      </a:r>
                    </a:p>
                    <a:p>
                      <a:r>
                        <a:rPr lang="en-US" dirty="0"/>
                        <a:t>Anniversary/Raksha Bandhan </a:t>
                      </a:r>
                    </a:p>
                    <a:p>
                      <a:r>
                        <a:rPr lang="en-US" dirty="0"/>
                        <a:t>likely feature much higher priced gifts (higher Average </a:t>
                      </a:r>
                    </a:p>
                    <a:p>
                      <a:r>
                        <a:rPr lang="en-US" dirty="0"/>
                        <a:t>Order Value) than the typical </a:t>
                      </a:r>
                    </a:p>
                    <a:p>
                      <a:r>
                        <a:rPr lang="en-US" dirty="0"/>
                        <a:t>Valentine's Day purchase.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82637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6EC216F-E2AA-EAF5-32E8-5413F8FF1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0993" y="1653627"/>
            <a:ext cx="4416321" cy="446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32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54BED4-E948-3265-0B8E-0B4EF0EB8805}"/>
              </a:ext>
            </a:extLst>
          </p:cNvPr>
          <p:cNvSpPr txBox="1"/>
          <p:nvPr/>
        </p:nvSpPr>
        <p:spPr>
          <a:xfrm>
            <a:off x="2964729" y="694199"/>
            <a:ext cx="62625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/>
              <a:t>REVENUE BY CATEGORY</a:t>
            </a: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100C8D-D13A-2B15-EA43-B62D6D97E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042364"/>
              </p:ext>
            </p:extLst>
          </p:nvPr>
        </p:nvGraphicFramePr>
        <p:xfrm>
          <a:off x="1051610" y="1451231"/>
          <a:ext cx="5782824" cy="471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412">
                  <a:extLst>
                    <a:ext uri="{9D8B030D-6E8A-4147-A177-3AD203B41FA5}">
                      <a16:colId xmlns:a16="http://schemas.microsoft.com/office/drawing/2014/main" val="3535307836"/>
                    </a:ext>
                  </a:extLst>
                </a:gridCol>
                <a:gridCol w="2891412">
                  <a:extLst>
                    <a:ext uri="{9D8B030D-6E8A-4147-A177-3AD203B41FA5}">
                      <a16:colId xmlns:a16="http://schemas.microsoft.com/office/drawing/2014/main" val="3283642514"/>
                    </a:ext>
                  </a:extLst>
                </a:gridCol>
              </a:tblGrid>
              <a:tr h="50633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 Insights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664854"/>
                  </a:ext>
                </a:extLst>
              </a:tr>
              <a:tr h="1254802">
                <a:tc>
                  <a:txBody>
                    <a:bodyPr/>
                    <a:lstStyle/>
                    <a:p>
                      <a:r>
                        <a:rPr lang="en-US" sz="1600" b="1" dirty="0"/>
                        <a:t>Colors</a:t>
                      </a:r>
                      <a:r>
                        <a:rPr lang="en-US" sz="1600" dirty="0"/>
                        <a:t> is the clear leader, generating approximately </a:t>
                      </a:r>
                      <a:r>
                        <a:rPr lang="en-US" sz="1600" b="1" dirty="0"/>
                        <a:t>₹10,00,000</a:t>
                      </a:r>
                      <a:r>
                        <a:rPr lang="en-US" sz="1600" dirty="0"/>
                        <a:t>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Primary Focus:</a:t>
                      </a:r>
                      <a:r>
                        <a:rPr lang="en-US" sz="1600" dirty="0"/>
                        <a:t> Maximize </a:t>
                      </a:r>
                    </a:p>
                    <a:p>
                      <a:r>
                        <a:rPr lang="en-US" sz="1600" dirty="0"/>
                        <a:t>inventory and profit margins for </a:t>
                      </a:r>
                    </a:p>
                    <a:p>
                      <a:r>
                        <a:rPr lang="en-US" sz="1600" dirty="0"/>
                        <a:t>"Colors" (e.g., flowers), as this is </a:t>
                      </a:r>
                    </a:p>
                    <a:p>
                      <a:r>
                        <a:rPr lang="en-US" sz="1600" dirty="0"/>
                        <a:t>the company's core revenue </a:t>
                      </a:r>
                    </a:p>
                    <a:p>
                      <a:r>
                        <a:rPr lang="en-US" sz="1600" dirty="0"/>
                        <a:t>stream.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23001"/>
                  </a:ext>
                </a:extLst>
              </a:tr>
              <a:tr h="1254802">
                <a:tc>
                  <a:txBody>
                    <a:bodyPr/>
                    <a:lstStyle/>
                    <a:p>
                      <a:r>
                        <a:rPr lang="en-US" sz="1600" b="1" dirty="0"/>
                        <a:t>Soft Toys</a:t>
                      </a:r>
                      <a:r>
                        <a:rPr lang="en-US" sz="1600" dirty="0"/>
                        <a:t> and </a:t>
                      </a:r>
                      <a:r>
                        <a:rPr lang="en-US" sz="1600" b="1" dirty="0"/>
                        <a:t>Sweets</a:t>
                      </a:r>
                      <a:r>
                        <a:rPr lang="en-US" sz="1600" dirty="0"/>
                        <a:t> follow, both earning over </a:t>
                      </a:r>
                      <a:r>
                        <a:rPr lang="en-US" sz="1600" b="1" dirty="0"/>
                        <a:t>₹7,00,000</a:t>
                      </a:r>
                      <a:r>
                        <a:rPr lang="en-US" sz="1600" dirty="0"/>
                        <a:t>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Cross-Selling Potential: </a:t>
                      </a:r>
                      <a:r>
                        <a:rPr lang="en-US" sz="1600" dirty="0"/>
                        <a:t>Use </a:t>
                      </a:r>
                    </a:p>
                    <a:p>
                      <a:r>
                        <a:rPr lang="en-US" sz="1600" dirty="0"/>
                        <a:t>Sweets and Soft Toys to create </a:t>
                      </a:r>
                    </a:p>
                    <a:p>
                      <a:r>
                        <a:rPr lang="en-US" sz="1600" dirty="0"/>
                        <a:t>attractive gift bundles with </a:t>
                      </a:r>
                    </a:p>
                    <a:p>
                      <a:r>
                        <a:rPr lang="en-US" sz="1600" dirty="0"/>
                        <a:t>Colors, boosting the average </a:t>
                      </a:r>
                    </a:p>
                    <a:p>
                      <a:r>
                        <a:rPr lang="en-US" sz="1600" dirty="0"/>
                        <a:t>order value.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706081"/>
                  </a:ext>
                </a:extLst>
              </a:tr>
              <a:tr h="1490078">
                <a:tc>
                  <a:txBody>
                    <a:bodyPr/>
                    <a:lstStyle/>
                    <a:p>
                      <a:r>
                        <a:rPr lang="en-US" sz="1600" b="1" dirty="0"/>
                        <a:t>Mugs</a:t>
                      </a:r>
                      <a:r>
                        <a:rPr lang="en-US" sz="1600" dirty="0"/>
                        <a:t> and </a:t>
                      </a:r>
                      <a:r>
                        <a:rPr lang="en-US" sz="1600" b="1" dirty="0"/>
                        <a:t>Plants</a:t>
                      </a:r>
                      <a:r>
                        <a:rPr lang="en-US" sz="1600" dirty="0"/>
                        <a:t> are the bottom categories, each generating only about </a:t>
                      </a:r>
                      <a:r>
                        <a:rPr lang="en-US" sz="1600" b="1" dirty="0"/>
                        <a:t>₹2,00,000</a:t>
                      </a:r>
                      <a:r>
                        <a:rPr lang="en-US" sz="1600" dirty="0"/>
                        <a:t>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Strategic Review: </a:t>
                      </a:r>
                      <a:r>
                        <a:rPr lang="en-US" sz="1600" dirty="0"/>
                        <a:t>Investigate </a:t>
                      </a:r>
                    </a:p>
                    <a:p>
                      <a:r>
                        <a:rPr lang="en-US" sz="1600" dirty="0"/>
                        <a:t>why sales are low for these </a:t>
                      </a:r>
                    </a:p>
                    <a:p>
                      <a:r>
                        <a:rPr lang="en-US" sz="1600" dirty="0"/>
                        <a:t>items (marketing, demand, or </a:t>
                      </a:r>
                    </a:p>
                    <a:p>
                      <a:r>
                        <a:rPr lang="en-US" sz="1600" dirty="0"/>
                        <a:t>price) before deciding to scale </a:t>
                      </a:r>
                    </a:p>
                    <a:p>
                      <a:r>
                        <a:rPr lang="en-US" sz="1600" dirty="0"/>
                        <a:t>back or redesign the offerings.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98823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C648344-3525-F0F0-A387-3FB14BEF4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395" y="1451231"/>
            <a:ext cx="4298835" cy="471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664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D55B54-5265-E096-9839-EF612CF8274A}"/>
              </a:ext>
            </a:extLst>
          </p:cNvPr>
          <p:cNvSpPr txBox="1"/>
          <p:nvPr/>
        </p:nvSpPr>
        <p:spPr>
          <a:xfrm>
            <a:off x="3261674" y="772998"/>
            <a:ext cx="544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 dirty="0"/>
              <a:t>REVENUE BY ORDER TIME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E4CDD0-68D2-E231-E83B-E08510D70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737814"/>
              </p:ext>
            </p:extLst>
          </p:nvPr>
        </p:nvGraphicFramePr>
        <p:xfrm>
          <a:off x="797088" y="1370985"/>
          <a:ext cx="643327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3968">
                  <a:extLst>
                    <a:ext uri="{9D8B030D-6E8A-4147-A177-3AD203B41FA5}">
                      <a16:colId xmlns:a16="http://schemas.microsoft.com/office/drawing/2014/main" val="2601191717"/>
                    </a:ext>
                  </a:extLst>
                </a:gridCol>
                <a:gridCol w="3279303">
                  <a:extLst>
                    <a:ext uri="{9D8B030D-6E8A-4147-A177-3AD203B41FA5}">
                      <a16:colId xmlns:a16="http://schemas.microsoft.com/office/drawing/2014/main" val="2050878245"/>
                    </a:ext>
                  </a:extLst>
                </a:gridCol>
              </a:tblGrid>
              <a:tr h="32760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Observations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Key Insights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058108"/>
                  </a:ext>
                </a:extLst>
              </a:tr>
              <a:tr h="1169060">
                <a:tc>
                  <a:txBody>
                    <a:bodyPr/>
                    <a:lstStyle/>
                    <a:p>
                      <a:r>
                        <a:rPr lang="en-US" sz="1600" dirty="0"/>
                        <a:t>Revenue peaks sharply in the evening between </a:t>
                      </a:r>
                      <a:r>
                        <a:rPr lang="en-US" sz="1600" b="1" dirty="0"/>
                        <a:t>19:00 and 20:00 (7 PM – 8 PM)</a:t>
                      </a:r>
                      <a:r>
                        <a:rPr lang="en-US" sz="1600" dirty="0"/>
                        <a:t>, nearly reaching ₹1,90,000.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Evening Core Market:</a:t>
                      </a:r>
                      <a:r>
                        <a:rPr lang="en-US" sz="1600" dirty="0"/>
                        <a:t> The sustained climb from 16:00 to 20:00 indicates that the </a:t>
                      </a:r>
                      <a:r>
                        <a:rPr lang="en-US" sz="1600" b="1" dirty="0"/>
                        <a:t>evening hours are your primary revenue drivers</a:t>
                      </a:r>
                      <a:r>
                        <a:rPr lang="en-US" sz="1600" dirty="0"/>
                        <a:t>, likely due to post-work consumer activity.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166618"/>
                  </a:ext>
                </a:extLst>
              </a:tr>
              <a:tr h="1169060">
                <a:tc>
                  <a:txBody>
                    <a:bodyPr/>
                    <a:lstStyle/>
                    <a:p>
                      <a:r>
                        <a:rPr lang="en-US" sz="1600" dirty="0"/>
                        <a:t>The most significant drop occurs at </a:t>
                      </a:r>
                      <a:r>
                        <a:rPr lang="en-US" sz="1600" b="1" dirty="0"/>
                        <a:t>10:00 (10 AM)</a:t>
                      </a:r>
                      <a:r>
                        <a:rPr lang="en-US" sz="1600" dirty="0"/>
                        <a:t>, representing the lowest revenue point in the entire 24-hour cycle.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Operational Gap:</a:t>
                      </a:r>
                      <a:r>
                        <a:rPr lang="en-US" sz="1600" dirty="0"/>
                        <a:t> The 10 AM slump highlights a major </a:t>
                      </a:r>
                      <a:r>
                        <a:rPr lang="en-US" sz="1600" b="1" dirty="0"/>
                        <a:t>underutilized window</a:t>
                      </a:r>
                      <a:r>
                        <a:rPr lang="en-US" sz="1600" dirty="0"/>
                        <a:t>; targeted morning promotions could help stabilize revenue during this period.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75566"/>
                  </a:ext>
                </a:extLst>
              </a:tr>
              <a:tr h="1169060">
                <a:tc>
                  <a:txBody>
                    <a:bodyPr/>
                    <a:lstStyle/>
                    <a:p>
                      <a:r>
                        <a:rPr lang="en-US" sz="1600" dirty="0"/>
                        <a:t>There is an unexpected surge in activity at </a:t>
                      </a:r>
                      <a:r>
                        <a:rPr lang="en-US" sz="1600" b="1" dirty="0"/>
                        <a:t>06:00 (6 AM)</a:t>
                      </a:r>
                      <a:r>
                        <a:rPr lang="en-US" sz="1600" dirty="0"/>
                        <a:t> before a steep decline leading into mid-morning.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Afternoon Instability:</a:t>
                      </a:r>
                      <a:r>
                        <a:rPr lang="en-US" sz="1600" dirty="0"/>
                        <a:t> Frequent fluctuations between 12:00 and 16:00 suggest </a:t>
                      </a:r>
                      <a:r>
                        <a:rPr lang="en-US" sz="1600" b="1" dirty="0"/>
                        <a:t>inconsistent demand</a:t>
                      </a:r>
                      <a:r>
                        <a:rPr lang="en-US" sz="1600" dirty="0"/>
                        <a:t>, which may require better staffing adjustments to handle the rapid "peaks and valleys."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89023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086AF3A-ADAF-1DF9-5204-D51C8B7B6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358" y="1370985"/>
            <a:ext cx="416455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95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EAAEF1-8823-86FA-BD46-5D74BAB83A01}"/>
              </a:ext>
            </a:extLst>
          </p:cNvPr>
          <p:cNvSpPr txBox="1"/>
          <p:nvPr/>
        </p:nvSpPr>
        <p:spPr>
          <a:xfrm>
            <a:off x="3148553" y="754144"/>
            <a:ext cx="5674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/>
              <a:t>REVENUE BY MONTH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299813-C7D3-02F0-F7B4-A2D07A792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82539"/>
              </p:ext>
            </p:extLst>
          </p:nvPr>
        </p:nvGraphicFramePr>
        <p:xfrm>
          <a:off x="1042184" y="1467927"/>
          <a:ext cx="5674936" cy="463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7468">
                  <a:extLst>
                    <a:ext uri="{9D8B030D-6E8A-4147-A177-3AD203B41FA5}">
                      <a16:colId xmlns:a16="http://schemas.microsoft.com/office/drawing/2014/main" val="1283402034"/>
                    </a:ext>
                  </a:extLst>
                </a:gridCol>
                <a:gridCol w="2837468">
                  <a:extLst>
                    <a:ext uri="{9D8B030D-6E8A-4147-A177-3AD203B41FA5}">
                      <a16:colId xmlns:a16="http://schemas.microsoft.com/office/drawing/2014/main" val="3306862260"/>
                    </a:ext>
                  </a:extLst>
                </a:gridCol>
              </a:tblGrid>
              <a:tr h="39152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 Insights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697447"/>
                  </a:ext>
                </a:extLst>
              </a:tr>
              <a:tr h="1414800">
                <a:tc>
                  <a:txBody>
                    <a:bodyPr/>
                    <a:lstStyle/>
                    <a:p>
                      <a:r>
                        <a:rPr lang="en-US" sz="1600" b="1" dirty="0"/>
                        <a:t>Dramatic Peaks:</a:t>
                      </a:r>
                      <a:r>
                        <a:rPr lang="en-US" sz="1600" dirty="0"/>
                        <a:t> Revenue hits its highest points in </a:t>
                      </a:r>
                      <a:r>
                        <a:rPr lang="en-US" sz="1600" b="1" dirty="0"/>
                        <a:t>August</a:t>
                      </a:r>
                      <a:r>
                        <a:rPr lang="en-US" sz="1600" dirty="0"/>
                        <a:t> and </a:t>
                      </a:r>
                      <a:r>
                        <a:rPr lang="en-US" sz="1600" b="1" dirty="0"/>
                        <a:t>February</a:t>
                      </a:r>
                      <a:r>
                        <a:rPr lang="en-US" sz="1600" dirty="0"/>
                        <a:t>, showing extreme seasonal spikes.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Seasonality:</a:t>
                      </a:r>
                      <a:r>
                        <a:rPr lang="en-US" sz="1600" dirty="0"/>
                        <a:t> The business likely relies on </a:t>
                      </a:r>
                      <a:r>
                        <a:rPr lang="en-US" sz="1600" b="1" dirty="0"/>
                        <a:t>bi-annual events</a:t>
                      </a:r>
                      <a:r>
                        <a:rPr lang="en-US" sz="1600" dirty="0"/>
                        <a:t> or promotions, as most months show minimal growth compared to the two major peaks.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31629"/>
                  </a:ext>
                </a:extLst>
              </a:tr>
              <a:tr h="1414800">
                <a:tc>
                  <a:txBody>
                    <a:bodyPr/>
                    <a:lstStyle/>
                    <a:p>
                      <a:r>
                        <a:rPr lang="en-US" sz="1600" b="1" dirty="0"/>
                        <a:t>Low-Growth Plateaus:</a:t>
                      </a:r>
                      <a:r>
                        <a:rPr lang="en-US" sz="1600" dirty="0"/>
                        <a:t> A significant "flat" period occurs between </a:t>
                      </a:r>
                      <a:r>
                        <a:rPr lang="en-US" sz="1600" b="1" dirty="0"/>
                        <a:t>April and July</a:t>
                      </a:r>
                      <a:r>
                        <a:rPr lang="en-US" sz="1600" dirty="0"/>
                        <a:t>, where revenue stays consistently low.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Resource Strain:</a:t>
                      </a:r>
                      <a:r>
                        <a:rPr lang="en-US" sz="1600" dirty="0"/>
                        <a:t> The massive jumps (e.g., July to August) suggest a need for high </a:t>
                      </a:r>
                      <a:r>
                        <a:rPr lang="en-US" sz="1600" b="1" dirty="0"/>
                        <a:t>operational flexibility</a:t>
                      </a:r>
                      <a:r>
                        <a:rPr lang="en-US" sz="1600" dirty="0"/>
                        <a:t> to handle sudden 5x increases in volume.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997144"/>
                  </a:ext>
                </a:extLst>
              </a:tr>
              <a:tr h="1414800">
                <a:tc>
                  <a:txBody>
                    <a:bodyPr/>
                    <a:lstStyle/>
                    <a:p>
                      <a:r>
                        <a:rPr lang="en-US" sz="1600" b="1" dirty="0"/>
                        <a:t>Year-End Volatility:</a:t>
                      </a:r>
                      <a:r>
                        <a:rPr lang="en-US" sz="1600" dirty="0"/>
                        <a:t> There is a sharp recovery in </a:t>
                      </a:r>
                      <a:r>
                        <a:rPr lang="en-US" sz="1600" b="1" dirty="0"/>
                        <a:t>November</a:t>
                      </a:r>
                      <a:r>
                        <a:rPr lang="en-US" sz="1600" dirty="0"/>
                        <a:t> followed by a sudden drop in December.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Resource Strain:</a:t>
                      </a:r>
                      <a:r>
                        <a:rPr lang="en-US" sz="1600" dirty="0"/>
                        <a:t> The massive jumps (e.g., July to August) suggest a need for high </a:t>
                      </a:r>
                      <a:r>
                        <a:rPr lang="en-US" sz="1600" b="1" dirty="0"/>
                        <a:t>operational flexibility</a:t>
                      </a:r>
                      <a:r>
                        <a:rPr lang="en-US" sz="1600" dirty="0"/>
                        <a:t> to handle sudden 5x increases in volume.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87136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BDD6FBA-B5E7-6E93-0A8D-91F7A06EA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120" y="1467927"/>
            <a:ext cx="4628375" cy="463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578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71B607-9777-62B9-AA69-31F1506FC8F6}"/>
              </a:ext>
            </a:extLst>
          </p:cNvPr>
          <p:cNvSpPr txBox="1"/>
          <p:nvPr/>
        </p:nvSpPr>
        <p:spPr>
          <a:xfrm>
            <a:off x="3101419" y="886120"/>
            <a:ext cx="5995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 dirty="0"/>
              <a:t>TOP PRODUCTS BY REVENUE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53F57B-500D-61B5-F431-69836B2E1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485173"/>
              </p:ext>
            </p:extLst>
          </p:nvPr>
        </p:nvGraphicFramePr>
        <p:xfrm>
          <a:off x="900783" y="1766040"/>
          <a:ext cx="4990970" cy="4084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5485">
                  <a:extLst>
                    <a:ext uri="{9D8B030D-6E8A-4147-A177-3AD203B41FA5}">
                      <a16:colId xmlns:a16="http://schemas.microsoft.com/office/drawing/2014/main" val="2664693668"/>
                    </a:ext>
                  </a:extLst>
                </a:gridCol>
                <a:gridCol w="2495485">
                  <a:extLst>
                    <a:ext uri="{9D8B030D-6E8A-4147-A177-3AD203B41FA5}">
                      <a16:colId xmlns:a16="http://schemas.microsoft.com/office/drawing/2014/main" val="2205979667"/>
                    </a:ext>
                  </a:extLst>
                </a:gridCol>
              </a:tblGrid>
              <a:tr h="610259">
                <a:tc>
                  <a:txBody>
                    <a:bodyPr/>
                    <a:lstStyle/>
                    <a:p>
                      <a:r>
                        <a:rPr lang="en-IN" dirty="0"/>
                        <a:t>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Insights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8363"/>
                  </a:ext>
                </a:extLst>
              </a:tr>
              <a:tr h="1328435">
                <a:tc>
                  <a:txBody>
                    <a:bodyPr/>
                    <a:lstStyle/>
                    <a:p>
                      <a:r>
                        <a:rPr lang="en-US" b="1" dirty="0"/>
                        <a:t>Top Performer:</a:t>
                      </a:r>
                      <a:r>
                        <a:rPr lang="en-US" dirty="0"/>
                        <a:t> </a:t>
                      </a:r>
                      <a:r>
                        <a:rPr lang="en-US" b="1" dirty="0" err="1"/>
                        <a:t>Magnam</a:t>
                      </a:r>
                      <a:r>
                        <a:rPr lang="en-US" b="1" dirty="0"/>
                        <a:t> Set</a:t>
                      </a:r>
                      <a:r>
                        <a:rPr lang="en-US" dirty="0"/>
                        <a:t> leads the group, generating the highest revenue at over ₹1,20,000.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Gift-Centric Demand:</a:t>
                      </a:r>
                      <a:r>
                        <a:rPr lang="en-US" dirty="0"/>
                        <a:t> Most top products are "Gifts," "Sets," or "Packs," indicating customers prefer </a:t>
                      </a:r>
                      <a:r>
                        <a:rPr lang="en-US" b="1" dirty="0"/>
                        <a:t>bundled offerings</a:t>
                      </a:r>
                      <a:r>
                        <a:rPr lang="en-US" dirty="0"/>
                        <a:t>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191661"/>
                  </a:ext>
                </a:extLst>
              </a:tr>
              <a:tr h="1376313">
                <a:tc>
                  <a:txBody>
                    <a:bodyPr/>
                    <a:lstStyle/>
                    <a:p>
                      <a:r>
                        <a:rPr lang="en-US" b="1" dirty="0"/>
                        <a:t>Tight Competition:</a:t>
                      </a:r>
                      <a:r>
                        <a:rPr lang="en-US" dirty="0"/>
                        <a:t> All top five products perform within a narrow range between ₹95,000 and ₹1,25,000.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Revenue Stability:</a:t>
                      </a:r>
                      <a:r>
                        <a:rPr lang="en-US" dirty="0"/>
                        <a:t> Sales are evenly distributed across these top items, reducing the risk of relying on a single product.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03981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575D362-5D5A-D706-5C2F-F9766EC8F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66041"/>
            <a:ext cx="5096586" cy="408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29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CFF817-6C73-8303-D6DF-C1EBECEAB1ED}"/>
              </a:ext>
            </a:extLst>
          </p:cNvPr>
          <p:cNvSpPr txBox="1"/>
          <p:nvPr/>
        </p:nvSpPr>
        <p:spPr>
          <a:xfrm>
            <a:off x="3280528" y="810705"/>
            <a:ext cx="5420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/>
              <a:t>TOP CITIES BY ORDERS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4083B1-363F-21FF-AE7C-072692C12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828585"/>
              </p:ext>
            </p:extLst>
          </p:nvPr>
        </p:nvGraphicFramePr>
        <p:xfrm>
          <a:off x="938488" y="1619926"/>
          <a:ext cx="5754540" cy="4262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7270">
                  <a:extLst>
                    <a:ext uri="{9D8B030D-6E8A-4147-A177-3AD203B41FA5}">
                      <a16:colId xmlns:a16="http://schemas.microsoft.com/office/drawing/2014/main" val="1244946890"/>
                    </a:ext>
                  </a:extLst>
                </a:gridCol>
                <a:gridCol w="2877270">
                  <a:extLst>
                    <a:ext uri="{9D8B030D-6E8A-4147-A177-3AD203B41FA5}">
                      <a16:colId xmlns:a16="http://schemas.microsoft.com/office/drawing/2014/main" val="2884408521"/>
                    </a:ext>
                  </a:extLst>
                </a:gridCol>
              </a:tblGrid>
              <a:tr h="35027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 Insights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930953"/>
                  </a:ext>
                </a:extLst>
              </a:tr>
              <a:tr h="1825453">
                <a:tc>
                  <a:txBody>
                    <a:bodyPr/>
                    <a:lstStyle/>
                    <a:p>
                      <a:r>
                        <a:rPr lang="en-US" b="1" dirty="0"/>
                        <a:t>Top Performer:</a:t>
                      </a:r>
                      <a:r>
                        <a:rPr lang="en-US" dirty="0"/>
                        <a:t> </a:t>
                      </a:r>
                      <a:r>
                        <a:rPr lang="en-US" b="1" dirty="0"/>
                        <a:t>Imphal</a:t>
                      </a:r>
                      <a:r>
                        <a:rPr lang="en-US" dirty="0"/>
                        <a:t> leads the group with the highest volume (approx. </a:t>
                      </a:r>
                      <a:r>
                        <a:rPr lang="en-US" b="1" dirty="0"/>
                        <a:t>29 orders</a:t>
                      </a:r>
                      <a:r>
                        <a:rPr lang="en-US" dirty="0"/>
                        <a:t>), followed closely by Dhanbad.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Regional Strength:</a:t>
                      </a:r>
                      <a:r>
                        <a:rPr lang="en-US" dirty="0"/>
                        <a:t> High performance in cities like Imphal and Dhanbad suggests strong </a:t>
                      </a:r>
                      <a:r>
                        <a:rPr lang="en-US" b="1" dirty="0"/>
                        <a:t>logistics or brand awareness</a:t>
                      </a:r>
                      <a:r>
                        <a:rPr lang="en-US" dirty="0"/>
                        <a:t> in non-metro regional hubs.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964768"/>
                  </a:ext>
                </a:extLst>
              </a:tr>
              <a:tr h="2071380">
                <a:tc>
                  <a:txBody>
                    <a:bodyPr/>
                    <a:lstStyle/>
                    <a:p>
                      <a:r>
                        <a:rPr lang="en-US" b="1" dirty="0"/>
                        <a:t>Performance Floor:</a:t>
                      </a:r>
                      <a:r>
                        <a:rPr lang="en-US" dirty="0"/>
                        <a:t> The lowest volume is roughly </a:t>
                      </a:r>
                      <a:r>
                        <a:rPr lang="en-US" b="1" dirty="0"/>
                        <a:t>18 orders</a:t>
                      </a:r>
                      <a:r>
                        <a:rPr lang="en-US" dirty="0"/>
                        <a:t> (Bhatpara and Bilaspur), showing a narrow gap of only ~11 orders between the top and bottom of this list.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Consistency Opportunity:</a:t>
                      </a:r>
                      <a:r>
                        <a:rPr lang="en-US" dirty="0"/>
                        <a:t> Most cities hover between </a:t>
                      </a:r>
                      <a:r>
                        <a:rPr lang="en-US" b="1" dirty="0"/>
                        <a:t>18–21 orders</a:t>
                      </a:r>
                      <a:r>
                        <a:rPr lang="en-US" dirty="0"/>
                        <a:t>; a minor localized campaign could easily push these "stable" performers into the high-growth bracket seen by the top three.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33799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824E6B4-2B06-F0D5-F725-9AB498133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663" y="1619926"/>
            <a:ext cx="4467849" cy="426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514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B45AD9-E3A9-543B-8A26-C701C11967CE}"/>
              </a:ext>
            </a:extLst>
          </p:cNvPr>
          <p:cNvSpPr txBox="1"/>
          <p:nvPr/>
        </p:nvSpPr>
        <p:spPr>
          <a:xfrm>
            <a:off x="3403077" y="631595"/>
            <a:ext cx="5241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/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DAE16-7C0B-05BB-6D9A-42EA7FC3A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25" y="1395480"/>
            <a:ext cx="10652288" cy="476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51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F5A066-CB68-25CA-368F-4B53F647F0DF}"/>
              </a:ext>
            </a:extLst>
          </p:cNvPr>
          <p:cNvSpPr txBox="1"/>
          <p:nvPr/>
        </p:nvSpPr>
        <p:spPr>
          <a:xfrm>
            <a:off x="3186260" y="820132"/>
            <a:ext cx="5363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 dirty="0"/>
              <a:t>SUMMARY BY FINDINGS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6F932-FE55-0124-6B30-E022F2E2B0CA}"/>
              </a:ext>
            </a:extLst>
          </p:cNvPr>
          <p:cNvSpPr txBox="1"/>
          <p:nvPr/>
        </p:nvSpPr>
        <p:spPr>
          <a:xfrm>
            <a:off x="1385740" y="1611984"/>
            <a:ext cx="9605914" cy="4208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Financial Overview:</a:t>
            </a:r>
            <a:r>
              <a:rPr lang="en-US" dirty="0"/>
              <a:t> Total revenue stands at </a:t>
            </a:r>
            <a:r>
              <a:rPr lang="en-US" b="1" dirty="0"/>
              <a:t>₹35,20,984</a:t>
            </a:r>
            <a:r>
              <a:rPr lang="en-US" dirty="0"/>
              <a:t> from </a:t>
            </a:r>
            <a:r>
              <a:rPr lang="en-US" b="1" dirty="0"/>
              <a:t>1,000 orders</a:t>
            </a:r>
            <a:r>
              <a:rPr lang="en-US" dirty="0"/>
              <a:t>, with an average customer spend of </a:t>
            </a:r>
            <a:r>
              <a:rPr lang="en-US" b="1" dirty="0"/>
              <a:t>₹3,520.98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Peak Seasons:</a:t>
            </a:r>
            <a:r>
              <a:rPr lang="en-US" dirty="0"/>
              <a:t> Sales spike significantly in </a:t>
            </a:r>
            <a:r>
              <a:rPr lang="en-US" b="1" dirty="0"/>
              <a:t>February</a:t>
            </a:r>
            <a:r>
              <a:rPr lang="en-US" dirty="0"/>
              <a:t> (Valentine's Day) and </a:t>
            </a:r>
            <a:r>
              <a:rPr lang="en-US" b="1" dirty="0"/>
              <a:t>August</a:t>
            </a:r>
            <a:r>
              <a:rPr lang="en-US" dirty="0"/>
              <a:t> (Raksha Bandhan), which are the two highest-earning months and occasions.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Top Category:</a:t>
            </a:r>
            <a:r>
              <a:rPr lang="en-US" dirty="0"/>
              <a:t> </a:t>
            </a:r>
            <a:r>
              <a:rPr lang="en-US" b="1" dirty="0"/>
              <a:t>"Colors"</a:t>
            </a:r>
            <a:r>
              <a:rPr lang="en-US" dirty="0"/>
              <a:t> is the clear leader in revenue generation, significantly outperforming other categories like Soft Toys, Sweets, and Cakes.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Hourly Trends:</a:t>
            </a:r>
            <a:r>
              <a:rPr lang="en-US" dirty="0"/>
              <a:t> Ordering activity is highest in the late evening, specifically peaking around </a:t>
            </a:r>
            <a:r>
              <a:rPr lang="en-US" b="1" dirty="0"/>
              <a:t>8:00 PM (20:00)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Operational Efficiency:</a:t>
            </a:r>
            <a:r>
              <a:rPr lang="en-US" dirty="0"/>
              <a:t> The average order-to-delivery time is </a:t>
            </a:r>
            <a:r>
              <a:rPr lang="en-US" b="1" dirty="0"/>
              <a:t>5.53 days</a:t>
            </a:r>
            <a:r>
              <a:rPr lang="en-US" dirty="0"/>
              <a:t>, while </a:t>
            </a:r>
            <a:r>
              <a:rPr lang="en-US" b="1" dirty="0"/>
              <a:t>Imphal</a:t>
            </a:r>
            <a:r>
              <a:rPr lang="en-US" dirty="0"/>
              <a:t> and </a:t>
            </a:r>
            <a:r>
              <a:rPr lang="en-US" b="1" dirty="0"/>
              <a:t>Dhanbad</a:t>
            </a:r>
            <a:r>
              <a:rPr lang="en-US" dirty="0"/>
              <a:t> lead as the top cities by order volume.</a:t>
            </a:r>
          </a:p>
        </p:txBody>
      </p:sp>
    </p:spTree>
    <p:extLst>
      <p:ext uri="{BB962C8B-B14F-4D97-AF65-F5344CB8AC3E}">
        <p14:creationId xmlns:p14="http://schemas.microsoft.com/office/powerpoint/2010/main" val="2214712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C19BE8-AFEE-3D31-CDA0-7947B6C6A6C6}"/>
              </a:ext>
            </a:extLst>
          </p:cNvPr>
          <p:cNvSpPr txBox="1"/>
          <p:nvPr/>
        </p:nvSpPr>
        <p:spPr>
          <a:xfrm>
            <a:off x="2853179" y="782424"/>
            <a:ext cx="64856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/>
              <a:t>CONCLUSION &amp; SUGGESTION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A58618-7160-1835-95A3-25BE76510A00}"/>
              </a:ext>
            </a:extLst>
          </p:cNvPr>
          <p:cNvSpPr txBox="1"/>
          <p:nvPr/>
        </p:nvSpPr>
        <p:spPr>
          <a:xfrm>
            <a:off x="1348033" y="1715678"/>
            <a:ext cx="95399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Diversify Category Focus:</a:t>
            </a:r>
            <a:r>
              <a:rPr lang="en-US" sz="2000" dirty="0"/>
              <a:t> While "Colors" is the top revenue generator, </a:t>
            </a:r>
            <a:r>
              <a:rPr lang="en-US" sz="2000" b="1" dirty="0"/>
              <a:t>Mugs and Plants</a:t>
            </a:r>
            <a:r>
              <a:rPr lang="en-US" sz="2000" dirty="0"/>
              <a:t> are underperforming; consider bundling these slow-moving items with top-sellers to clear inventory and balance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Optimize Ad Spend:</a:t>
            </a:r>
            <a:r>
              <a:rPr lang="en-US" sz="2000" dirty="0"/>
              <a:t> Peak ordering occurs at </a:t>
            </a:r>
            <a:r>
              <a:rPr lang="en-US" sz="2000" b="1" dirty="0"/>
              <a:t>8:00 PM</a:t>
            </a:r>
            <a:r>
              <a:rPr lang="en-US" sz="2000" dirty="0"/>
              <a:t> and during </a:t>
            </a:r>
            <a:r>
              <a:rPr lang="en-US" sz="2000" b="1" dirty="0"/>
              <a:t>February/August</a:t>
            </a:r>
            <a:r>
              <a:rPr lang="en-US" sz="2000" dirty="0"/>
              <a:t>; shift marketing budgets to these specific windows to maximize ROI and capture high-intent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Improve Delivery Speed:</a:t>
            </a:r>
            <a:r>
              <a:rPr lang="en-US" sz="2000" dirty="0"/>
              <a:t> An average delivery time of </a:t>
            </a:r>
            <a:r>
              <a:rPr lang="en-US" sz="2000" b="1" dirty="0"/>
              <a:t>5.53 days</a:t>
            </a:r>
            <a:r>
              <a:rPr lang="en-US" sz="2000" dirty="0"/>
              <a:t> is relatively high for gifting; streamlining logistics in high-volume hubs like </a:t>
            </a:r>
            <a:r>
              <a:rPr lang="en-US" sz="2000" b="1" dirty="0"/>
              <a:t>Imphal and Dhanbad</a:t>
            </a:r>
            <a:r>
              <a:rPr lang="en-US" sz="2000" dirty="0"/>
              <a:t> could increase repeat purchase rates.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Target Mid-Tier Occasions:</a:t>
            </a:r>
            <a:r>
              <a:rPr lang="en-US" sz="2000" dirty="0"/>
              <a:t> </a:t>
            </a:r>
            <a:r>
              <a:rPr lang="en-US" sz="2000" b="1" dirty="0"/>
              <a:t>Diwali and Valentine’s Day</a:t>
            </a:r>
            <a:r>
              <a:rPr lang="en-US" sz="2000" dirty="0"/>
              <a:t> show lower revenue than Anniversary/Raksha Bandhan; launching targeted "Early Bird" promotions for these specific occasions could help bridge the revenue gap.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85364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F42661-637A-D996-0447-E6BD2F3F1136}"/>
              </a:ext>
            </a:extLst>
          </p:cNvPr>
          <p:cNvSpPr txBox="1"/>
          <p:nvPr/>
        </p:nvSpPr>
        <p:spPr>
          <a:xfrm>
            <a:off x="1904213" y="2578038"/>
            <a:ext cx="86160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579122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455</TotalTime>
  <Words>1323</Words>
  <Application>Microsoft Office PowerPoint</Application>
  <PresentationFormat>Widescreen</PresentationFormat>
  <Paragraphs>143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Garamond</vt:lpstr>
      <vt:lpstr>Wingdings</vt:lpstr>
      <vt:lpstr>Organic</vt:lpstr>
      <vt:lpstr>Ferns N Petals Sales  Analysis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Srishti Saha</dc:creator>
  <cp:lastModifiedBy>Srishti Saha</cp:lastModifiedBy>
  <cp:revision>2</cp:revision>
  <dcterms:created xsi:type="dcterms:W3CDTF">2026-01-10T15:49:08Z</dcterms:created>
  <dcterms:modified xsi:type="dcterms:W3CDTF">2026-01-11T17:12:37Z</dcterms:modified>
</cp:coreProperties>
</file>